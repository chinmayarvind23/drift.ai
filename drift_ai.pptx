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j6SiVLiVKu1U9G41yybrUSUBqM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" name="Google Shape;45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" name="Google Shape;85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7" name="Google Shape;16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rift-ai-lime.vercel.app" TargetMode="External"/><Relationship Id="rId4" Type="http://schemas.openxmlformats.org/officeDocument/2006/relationships/hyperlink" Target="https://youtu.be/IvfGUKCkWu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6492240" y="0"/>
            <a:ext cx="2560320" cy="2560320"/>
          </a:xfrm>
          <a:prstGeom prst="ellipse">
            <a:avLst/>
          </a:prstGeom>
          <a:solidFill>
            <a:srgbClr val="0D9488">
              <a:alpha val="18039"/>
            </a:srgbClr>
          </a:solidFill>
          <a:ln cap="flat" cmpd="sng" w="12700">
            <a:solidFill>
              <a:srgbClr val="0D9488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7315200" y="2926080"/>
            <a:ext cx="1645920" cy="1645920"/>
          </a:xfrm>
          <a:prstGeom prst="ellipse">
            <a:avLst/>
          </a:prstGeom>
          <a:solidFill>
            <a:srgbClr val="5EEAD4">
              <a:alpha val="12156"/>
            </a:srgbClr>
          </a:solidFill>
          <a:ln cap="flat" cmpd="sng" w="12700">
            <a:solidFill>
              <a:srgbClr val="5EEAD4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" name="Google Shape;1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32320" y="1371600"/>
            <a:ext cx="1280160" cy="128016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"/>
          <p:cNvSpPr/>
          <p:nvPr/>
        </p:nvSpPr>
        <p:spPr>
          <a:xfrm>
            <a:off x="457200" y="893856"/>
            <a:ext cx="228065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600"/>
              <a:buFont typeface="Calibri"/>
              <a:buNone/>
            </a:pPr>
            <a:r>
              <a:rPr b="1" lang="en-US" sz="56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Drift.ai</a:t>
            </a:r>
            <a:endParaRPr sz="560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78308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EAD4"/>
              </a:buClr>
              <a:buSzPts val="2200"/>
              <a:buFont typeface="Calibri"/>
              <a:buNone/>
            </a:pPr>
            <a:r>
              <a:rPr lang="en-US" sz="2200">
                <a:solidFill>
                  <a:srgbClr val="5EEAD4"/>
                </a:solidFill>
                <a:latin typeface="Calibri"/>
                <a:ea typeface="Calibri"/>
                <a:cs typeface="Calibri"/>
                <a:sym typeface="Calibri"/>
              </a:rPr>
              <a:t>Private AI lifestyle drift audits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2377440"/>
            <a:ext cx="50292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 cap="flat" cmpd="sng" w="12700">
            <a:solidFill>
              <a:srgbClr val="0D9488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2560320"/>
            <a:ext cx="7772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Calibri"/>
              <a:buNone/>
            </a:pPr>
            <a:r>
              <a:rPr lang="en-US" sz="15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Replaces a 60-minute spreadsheet audit with 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Calibri"/>
              <a:buNone/>
            </a:pPr>
            <a:r>
              <a:rPr lang="en-US" sz="15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2-minute private AI scan plus a report worth paying for.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9488">
              <a:alpha val="12156"/>
            </a:srgbClr>
          </a:solidFill>
          <a:ln cap="flat" cmpd="sng" w="12700">
            <a:solidFill>
              <a:srgbClr val="0D9488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EEAD4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5EEAD4"/>
                </a:solidFill>
                <a:latin typeface="Calibri"/>
                <a:ea typeface="Calibri"/>
                <a:cs typeface="Calibri"/>
                <a:sym typeface="Calibri"/>
              </a:rPr>
              <a:t>Chinmay Arvind, Laeeq Ahmed | UMN | 0-1 Hackathon 2026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" name="Google Shape;2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2656" y="458867"/>
            <a:ext cx="1839488" cy="1004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cap="flat" cmpd="sng" w="127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365760" y="1078992"/>
            <a:ext cx="2926080" cy="2560320"/>
          </a:xfrm>
          <a:prstGeom prst="rect">
            <a:avLst/>
          </a:prstGeom>
          <a:solidFill>
            <a:srgbClr val="0A1628"/>
          </a:solidFill>
          <a:ln cap="flat" cmpd="sng" w="127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365760" y="1371600"/>
            <a:ext cx="29260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60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min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365760" y="2468880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average time to manually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audit spending drift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3657600" y="1143000"/>
            <a:ext cx="512064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794760" y="1252728"/>
            <a:ext cx="4846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📥  Download &amp; clean bank CSVs manually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3657600" y="1892808"/>
            <a:ext cx="512064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794760" y="2002536"/>
            <a:ext cx="4846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📊  Build spreadsheet formulas from scratch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3657600" y="2642616"/>
            <a:ext cx="512064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3794760" y="2752344"/>
            <a:ext cx="4846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🔍  Guess which spending changes matter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3657600" y="3392424"/>
            <a:ext cx="512064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3794760" y="3502152"/>
            <a:ext cx="4846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❓  No explanation for why spending changed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365760" y="4069080"/>
            <a:ext cx="3855918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1" lang="en-US" sz="14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Target user: </a:t>
            </a:r>
            <a:r>
              <a:rPr i="1" lang="en-US" sz="14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early-career professionals after a raise, move, or routine change.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They want to know where the extra money went.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289961" y="4069080"/>
            <a:ext cx="3855918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1" lang="en-US" sz="14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Budgeting apps tell you what you spent. None explain what your spending has become.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cap="flat" cmpd="sng" w="127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BEFORE VS. AFTER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274320" y="1005840"/>
            <a:ext cx="3931920" cy="457200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274320" y="10058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BEFORE DRIFT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274320" y="1554480"/>
            <a:ext cx="3931920" cy="402336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411480" y="1591056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✗  Export bank CSV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74320" y="2020824"/>
            <a:ext cx="3931920" cy="40233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11480" y="2057400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✗  Clean categories manually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274320" y="2487168"/>
            <a:ext cx="3931920" cy="402336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11480" y="2523744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✗  Build spreadsheet formulas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274320" y="2953512"/>
            <a:ext cx="3931920" cy="40233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11480" y="2990088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✗  Compare months manually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274320" y="3419856"/>
            <a:ext cx="3931920" cy="402336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11480" y="3456432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✗  Guess what changed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274320" y="3886200"/>
            <a:ext cx="3931920" cy="40233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411480" y="3922776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✗  Write a plan manually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274320" y="4352544"/>
            <a:ext cx="3931920" cy="402336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11480" y="4389120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✗  Repeat next month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AFTER DRIFT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846320" y="1554480"/>
            <a:ext cx="3931920" cy="402336"/>
          </a:xfrm>
          <a:prstGeom prst="rect">
            <a:avLst/>
          </a:prstGeom>
          <a:solidFill>
            <a:srgbClr val="F0FDFA"/>
          </a:solidFill>
          <a:ln cap="flat" cmpd="sng" w="9525">
            <a:solidFill>
              <a:srgbClr val="99F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983480" y="1591056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✓  Import CSV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846320" y="2020824"/>
            <a:ext cx="3931920" cy="40233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9F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983480" y="2057400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✓  Drift finds spending changes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4846320" y="2487168"/>
            <a:ext cx="3931920" cy="402336"/>
          </a:xfrm>
          <a:prstGeom prst="rect">
            <a:avLst/>
          </a:prstGeom>
          <a:solidFill>
            <a:srgbClr val="F0FDFA"/>
          </a:solidFill>
          <a:ln cap="flat" cmpd="sng" w="9525">
            <a:solidFill>
              <a:srgbClr val="99F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983480" y="2523744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✓  AI asks why it changed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4846320" y="2953512"/>
            <a:ext cx="3931920" cy="40233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9F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4983480" y="2990088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✓  Behavior tag is saved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4846320" y="3419856"/>
            <a:ext cx="3931920" cy="402336"/>
          </a:xfrm>
          <a:prstGeom prst="rect">
            <a:avLst/>
          </a:prstGeom>
          <a:solidFill>
            <a:srgbClr val="F0FDFA"/>
          </a:solidFill>
          <a:ln cap="flat" cmpd="sng" w="9525">
            <a:solidFill>
              <a:srgbClr val="99F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4983480" y="3456432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✓  Simulate future purchase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4846320" y="3886200"/>
            <a:ext cx="3931920" cy="40233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9F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4983480" y="3922776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✓  Export private PDF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4846320" y="4352544"/>
            <a:ext cx="3931920" cy="402336"/>
          </a:xfrm>
          <a:prstGeom prst="rect">
            <a:avLst/>
          </a:prstGeom>
          <a:solidFill>
            <a:srgbClr val="F0FDFA"/>
          </a:solidFill>
          <a:ln cap="flat" cmpd="sng" w="9525">
            <a:solidFill>
              <a:srgbClr val="99F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4983480" y="4389120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✓  Done in 2 minutes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2" name="Google Shape;8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1960" y="2651760"/>
            <a:ext cx="548640" cy="548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SOLUTION: DRIFT.AI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274320" y="1097280"/>
            <a:ext cx="2011680" cy="374904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005840" y="1188720"/>
            <a:ext cx="502920" cy="50292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1005840" y="120700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3" name="Google Shape;9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78308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4"/>
          <p:cNvSpPr/>
          <p:nvPr/>
        </p:nvSpPr>
        <p:spPr>
          <a:xfrm>
            <a:off x="274320" y="2651760"/>
            <a:ext cx="2011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Scan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384048" y="3127248"/>
            <a:ext cx="1792224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Compares earlier vs. recent monthly averages and flags drift.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2427732" y="1097280"/>
            <a:ext cx="2011680" cy="374904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3182112" y="1188720"/>
            <a:ext cx="502920" cy="50292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3182112" y="120700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" name="Google Shape;9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90672" y="178308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4"/>
          <p:cNvSpPr/>
          <p:nvPr/>
        </p:nvSpPr>
        <p:spPr>
          <a:xfrm>
            <a:off x="2450592" y="2651760"/>
            <a:ext cx="2011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Pattern Lab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2537460" y="3127248"/>
            <a:ext cx="1792224" cy="1386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Asks why a pattern started and saves a behavior tag.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4626864" y="1097280"/>
            <a:ext cx="2011680" cy="374904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5358384" y="1188720"/>
            <a:ext cx="502920" cy="50292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5358384" y="120700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5" name="Google Shape;105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66944" y="178308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4"/>
          <p:cNvSpPr/>
          <p:nvPr/>
        </p:nvSpPr>
        <p:spPr>
          <a:xfrm>
            <a:off x="4626864" y="2651760"/>
            <a:ext cx="2011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Intercept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4736592" y="3063240"/>
            <a:ext cx="1792224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Tests a future purchase and marks it intentional or risky.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6803136" y="1097280"/>
            <a:ext cx="2011680" cy="374904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7534656" y="1188720"/>
            <a:ext cx="502920" cy="50292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7534656" y="120700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1" name="Google Shape;111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443216" y="178308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4"/>
          <p:cNvSpPr/>
          <p:nvPr/>
        </p:nvSpPr>
        <p:spPr>
          <a:xfrm>
            <a:off x="6803136" y="2651760"/>
            <a:ext cx="2011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6912864" y="3127248"/>
            <a:ext cx="1792224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Produces a private PDF with cited facts and a 30-day recovery path.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WHY AI IS CORE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600">
                <a:solidFill>
                  <a:srgbClr val="5EEAD4"/>
                </a:solidFill>
                <a:latin typeface="Calibri"/>
                <a:ea typeface="Calibri"/>
                <a:cs typeface="Calibri"/>
                <a:sym typeface="Calibri"/>
              </a:rPr>
              <a:t>AI is used for behavior insight, not the financial math.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274320" y="1965960"/>
            <a:ext cx="1554480" cy="4572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274320" y="2020824"/>
            <a:ext cx="1554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1874520" y="1965960"/>
            <a:ext cx="6903720" cy="45720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2011680" y="2039112"/>
            <a:ext cx="6629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Computes Drift Score and category changes from the CSV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274320" y="2542032"/>
            <a:ext cx="1554480" cy="4572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274320" y="2596896"/>
            <a:ext cx="1554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Interviews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1874520" y="2542032"/>
            <a:ext cx="6903720" cy="45720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2011680" y="2615184"/>
            <a:ext cx="6629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Asks why the pattern started and follows up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274320" y="3118104"/>
            <a:ext cx="1554480" cy="4572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274320" y="3172968"/>
            <a:ext cx="1554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Classifies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1874520" y="3118104"/>
            <a:ext cx="6903720" cy="45720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2011680" y="3191256"/>
            <a:ext cx="6629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Tags reward spending, stress convenience, habit influence, or life event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274320" y="3694176"/>
            <a:ext cx="1554480" cy="4572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274320" y="3749040"/>
            <a:ext cx="1554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Writes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874520" y="3694176"/>
            <a:ext cx="6903720" cy="45720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2011680" y="3767328"/>
            <a:ext cx="6629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Generates a short recovery path from the tag and overspend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274320" y="4270248"/>
            <a:ext cx="1554480" cy="4572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274320" y="4325112"/>
            <a:ext cx="1554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Reports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1874520" y="4270248"/>
            <a:ext cx="6903720" cy="457200"/>
          </a:xfrm>
          <a:prstGeom prst="rect">
            <a:avLst/>
          </a:prstGeom>
          <a:solidFill>
            <a:srgbClr val="1E293B"/>
          </a:solidFill>
          <a:ln cap="flat" cmpd="sng" w="127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2011680" y="4343400"/>
            <a:ext cx="6629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Writes a cited review grounded in scan facts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2" name="Google Shape;14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4727448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731520" y="4781973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EAD4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5EEAD4"/>
                </a:solidFill>
                <a:latin typeface="Calibri"/>
                <a:ea typeface="Calibri"/>
                <a:cs typeface="Calibri"/>
                <a:sym typeface="Calibri"/>
              </a:rPr>
              <a:t>Raw transactions stay in the browser. Local Qwen/Ollama runs the AI.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VALUE + WHY PAY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1" name="Google Shape;1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31920" y="1097280"/>
            <a:ext cx="1280160" cy="128016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6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 unlock is live in the MVP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365760" y="3154680"/>
            <a:ext cx="8412480" cy="402336"/>
          </a:xfrm>
          <a:prstGeom prst="rect">
            <a:avLst/>
          </a:prstGeom>
          <a:solidFill>
            <a:srgbClr val="1E293B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4" name="Google Shape;15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" y="32186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6"/>
          <p:cNvSpPr/>
          <p:nvPr/>
        </p:nvSpPr>
        <p:spPr>
          <a:xfrm>
            <a:off x="822960" y="3191256"/>
            <a:ext cx="7772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60-minute manual audit becomes a 2-minute private scan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365760" y="3621024"/>
            <a:ext cx="8412480" cy="402336"/>
          </a:xfrm>
          <a:prstGeom prst="rect">
            <a:avLst/>
          </a:prstGeom>
          <a:solidFill>
            <a:srgbClr val="1E293B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7" name="Google Shape;15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" y="368503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6"/>
          <p:cNvSpPr/>
          <p:nvPr/>
        </p:nvSpPr>
        <p:spPr>
          <a:xfrm>
            <a:off x="822960" y="3657600"/>
            <a:ext cx="7772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PDF gives cited facts, behavior insight, and a 30-day recovery path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365760" y="4087368"/>
            <a:ext cx="8412480" cy="402336"/>
          </a:xfrm>
          <a:prstGeom prst="rect">
            <a:avLst/>
          </a:prstGeom>
          <a:solidFill>
            <a:srgbClr val="1E293B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0" name="Google Shape;16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" y="415137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6"/>
          <p:cNvSpPr/>
          <p:nvPr/>
        </p:nvSpPr>
        <p:spPr>
          <a:xfrm>
            <a:off x="822960" y="4123944"/>
            <a:ext cx="7772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Raw transactions stay local, which matters for personal financial data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365760" y="4553712"/>
            <a:ext cx="8412480" cy="402336"/>
          </a:xfrm>
          <a:prstGeom prst="rect">
            <a:avLst/>
          </a:prstGeom>
          <a:solidFill>
            <a:srgbClr val="1E293B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3" name="Google Shape;16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" y="4617720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6"/>
          <p:cNvSpPr/>
          <p:nvPr/>
        </p:nvSpPr>
        <p:spPr>
          <a:xfrm>
            <a:off x="822960" y="4590288"/>
            <a:ext cx="7772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One-time payment keeps the ask simple and low friction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cap="flat" cmpd="sng" w="127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WORKING MVP / VALIDATION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274320" y="1097280"/>
            <a:ext cx="416052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274320" y="1097280"/>
            <a:ext cx="4160520" cy="5486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4" name="Google Shape;17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258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7"/>
          <p:cNvSpPr/>
          <p:nvPr/>
        </p:nvSpPr>
        <p:spPr>
          <a:xfrm>
            <a:off x="1051560" y="1280160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Working MVP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457200" y="1847088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CSV import, Drift Score, Pattern Lab, Intercept, PDF export, email, and Stripe all working.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4617720" y="1171109"/>
            <a:ext cx="4069080" cy="1617811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4617720" y="1097280"/>
            <a:ext cx="4160520" cy="5486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9" name="Google Shape;17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0600" y="13258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7"/>
          <p:cNvSpPr/>
          <p:nvPr/>
        </p:nvSpPr>
        <p:spPr>
          <a:xfrm>
            <a:off x="5394960" y="1280160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$Payment Ready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4800600" y="1847088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Stripe checkout is live for report unlock and ready for payments.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274320" y="3063240"/>
            <a:ext cx="416052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274320" y="3063240"/>
            <a:ext cx="4160520" cy="54864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4" name="Google Shape;18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329184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/>
          <p:nvPr/>
        </p:nvSpPr>
        <p:spPr>
          <a:xfrm>
            <a:off x="1051560" y="3246120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Early User Interest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457200" y="3813048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Got user interest results of 3 people from different backgrounds (finance, tech, product engineering). Positive interest in privacy and behavior insight.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orms response chart. Question title: Would you pay $1 to unlock/export a private report like this from your own data?. Number of responses: 3 responses." id="187" name="Google Shape;18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18264" y="2971800"/>
            <a:ext cx="4434838" cy="1956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365760" y="10972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DEMO</a:t>
            </a:r>
            <a:endParaRPr/>
          </a:p>
        </p:txBody>
      </p:sp>
      <p:sp>
        <p:nvSpPr>
          <p:cNvPr id="195" name="Google Shape;195;p8"/>
          <p:cNvSpPr/>
          <p:nvPr/>
        </p:nvSpPr>
        <p:spPr>
          <a:xfrm>
            <a:off x="0" y="6355080"/>
            <a:ext cx="914400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 txBox="1"/>
          <p:nvPr/>
        </p:nvSpPr>
        <p:spPr>
          <a:xfrm>
            <a:off x="502920" y="6419088"/>
            <a:ext cx="8138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sng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Live app: drift-ai-lime.vercel.app</a:t>
            </a:r>
            <a:endParaRPr/>
          </a:p>
        </p:txBody>
      </p:sp>
      <p:sp>
        <p:nvSpPr>
          <p:cNvPr id="197" name="Google Shape;197;p8"/>
          <p:cNvSpPr txBox="1"/>
          <p:nvPr/>
        </p:nvSpPr>
        <p:spPr>
          <a:xfrm>
            <a:off x="2836650" y="2127900"/>
            <a:ext cx="34707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u="sng">
                <a:solidFill>
                  <a:schemeClr val="hlink"/>
                </a:solidFill>
                <a:hlinkClick r:id="rId4"/>
              </a:rPr>
              <a:t>Link To Demo</a:t>
            </a:r>
            <a:endParaRPr sz="4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2026-04-14T10:31:13Z</dcterms:created>
  <dc:creator>PptxGenJS</dc:creator>
</cp:coreProperties>
</file>